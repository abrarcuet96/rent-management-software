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6217920" cy="621792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3840480"/>
            <a:ext cx="5943600" cy="59436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-1645920"/>
            <a:ext cx="3291840" cy="3291840"/>
          </a:xfrm>
          <a:prstGeom prst="ellipse">
            <a:avLst/>
          </a:prstGeom>
          <a:solidFill>
            <a:srgbClr val="C8A24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320040"/>
            <a:ext cx="292608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80644" y="397764"/>
            <a:ext cx="137160" cy="137160"/>
          </a:xfrm>
          <a:prstGeom prst="rect">
            <a:avLst/>
          </a:prstGeom>
          <a:solidFill>
            <a:srgbClr val="0D4A38"/>
          </a:solidFill>
          <a:ln/>
        </p:spPr>
      </p:sp>
      <p:sp>
        <p:nvSpPr>
          <p:cNvPr id="7" name="Text 5"/>
          <p:cNvSpPr/>
          <p:nvPr/>
        </p:nvSpPr>
        <p:spPr>
          <a:xfrm>
            <a:off x="886968" y="2971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RentFlow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20240"/>
            <a:ext cx="822960" cy="8229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2788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ED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ভাড়া ব্যবস্থাপনা — নতুনভাবে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1480" y="31546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RentFlow</a:t>
            </a:r>
            <a:endParaRPr lang="en-US" sz="9600" dirty="0"/>
          </a:p>
        </p:txBody>
      </p:sp>
      <p:sp>
        <p:nvSpPr>
          <p:cNvPr id="11" name="Text 8"/>
          <p:cNvSpPr/>
          <p:nvPr/>
        </p:nvSpPr>
        <p:spPr>
          <a:xfrm>
            <a:off x="502920" y="4572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যারা হাতে-হাতে পোর্টফোলিও চালান — তাঁদের জন্য দ্বিভাষিক ভাড়া-ব্যবস্থাপনা OS।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02920" y="5212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ED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আপনার সম্পত্তি পরিচালনা করুন সহজে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02920" y="5897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১০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1371600" y="6035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D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ডোমেইন মডিউল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429000" y="5897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১১</a:t>
            </a:r>
            <a:endParaRPr lang="en-US" sz="3800" dirty="0"/>
          </a:p>
        </p:txBody>
      </p:sp>
      <p:sp>
        <p:nvSpPr>
          <p:cNvPr id="16" name="Text 13"/>
          <p:cNvSpPr/>
          <p:nvPr/>
        </p:nvSpPr>
        <p:spPr>
          <a:xfrm>
            <a:off x="4297680" y="6035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D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অ্যাপ পেজ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355080" y="5897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২</a:t>
            </a:r>
            <a:endParaRPr lang="en-US" sz="3800" dirty="0"/>
          </a:p>
        </p:txBody>
      </p:sp>
      <p:sp>
        <p:nvSpPr>
          <p:cNvPr id="18" name="Text 15"/>
          <p:cNvSpPr/>
          <p:nvPr/>
        </p:nvSpPr>
        <p:spPr>
          <a:xfrm>
            <a:off x="7223760" y="6035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D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ভাষা: বাংলা / English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88136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ED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০১ / ০৯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92608" cy="292608"/>
          </a:xfrm>
          <a:prstGeom prst="rect">
            <a:avLst/>
          </a:prstGeom>
          <a:solidFill>
            <a:srgbClr val="0D4A38"/>
          </a:solidFill>
          <a:ln/>
        </p:spPr>
      </p:sp>
      <p:sp>
        <p:nvSpPr>
          <p:cNvPr id="3" name="Shape 1"/>
          <p:cNvSpPr/>
          <p:nvPr/>
        </p:nvSpPr>
        <p:spPr>
          <a:xfrm>
            <a:off x="580644" y="397764"/>
            <a:ext cx="137160" cy="137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86968" y="2971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RentFlow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০১  ·  সমস্যা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6126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ছোট জমিদাররা এখনও ভাড়া চালান কাগজে, WhatsApp-এ আর ক্লান্ত একটা এক্সেল শিটে।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416052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একজন মালিক একসাথে অনেক ভাড়াটে সামলান — প্রতিজনের আলাদা ভাড়ার পরিমাণ, আংশিক পেমেন্ট, পাশের খরচ ও বকেয়ার ইতিহাস। এই সেগমেন্টের জন্য কোনো পেমেন্ট গেটওয়ে নেই। কাজটা ম্যানুয়াল, একঘেয়ে আর সহজে ভুল হয়।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040880" y="1417320"/>
            <a:ext cx="45720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FEAE0"/>
            </a:solidFill>
            <a:prstDash val="solid"/>
          </a:ln>
          <a:effectLst>
            <a:outerShdw sx="100000" sy="100000" kx="0" ky="0" algn="bl" rotWithShape="0" blurRad="177800" dist="38100" dir="5400000">
              <a:srgbClr val="0A1A14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040880" y="1417320"/>
            <a:ext cx="82296" cy="1325880"/>
          </a:xfrm>
          <a:prstGeom prst="rect">
            <a:avLst/>
          </a:prstGeom>
          <a:solidFill>
            <a:srgbClr val="B0413E"/>
          </a:solidFill>
          <a:ln/>
        </p:spPr>
      </p:sp>
      <p:sp>
        <p:nvSpPr>
          <p:cNvPr id="10" name="Shape 8"/>
          <p:cNvSpPr/>
          <p:nvPr/>
        </p:nvSpPr>
        <p:spPr>
          <a:xfrm>
            <a:off x="7269480" y="1709928"/>
            <a:ext cx="713232" cy="713232"/>
          </a:xfrm>
          <a:prstGeom prst="ellipse">
            <a:avLst/>
          </a:prstGeom>
          <a:solidFill>
            <a:srgbClr val="F5DAD8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4928" y="1865376"/>
            <a:ext cx="402336" cy="40233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183880" y="16184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ভুলে যাওয়া ডিউ, হারানো মাস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183880" y="207568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কে কত বকেয়া, কবে থেকে — দেখার একটা জায়গা নেই।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040880" y="3017520"/>
            <a:ext cx="45720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FEAE0"/>
            </a:solidFill>
            <a:prstDash val="solid"/>
          </a:ln>
          <a:effectLst>
            <a:outerShdw sx="100000" sy="100000" kx="0" ky="0" algn="bl" rotWithShape="0" blurRad="177800" dist="38100" dir="5400000">
              <a:srgbClr val="0A1A14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040880" y="3017520"/>
            <a:ext cx="82296" cy="1325880"/>
          </a:xfrm>
          <a:prstGeom prst="rect">
            <a:avLst/>
          </a:prstGeom>
          <a:solidFill>
            <a:srgbClr val="B0413E"/>
          </a:solidFill>
          <a:ln/>
        </p:spPr>
      </p:sp>
      <p:sp>
        <p:nvSpPr>
          <p:cNvPr id="16" name="Shape 13"/>
          <p:cNvSpPr/>
          <p:nvPr/>
        </p:nvSpPr>
        <p:spPr>
          <a:xfrm>
            <a:off x="7269480" y="3310128"/>
            <a:ext cx="713232" cy="713232"/>
          </a:xfrm>
          <a:prstGeom prst="ellipse">
            <a:avLst/>
          </a:prstGeom>
          <a:solidFill>
            <a:srgbClr val="F5DAD8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4928" y="3465576"/>
            <a:ext cx="402336" cy="40233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183880" y="32186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আংশিক পেমেন্টে হিসাব ঘুলিয়ে যায়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8183880" y="367588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৮,০০০ টাকার মধ্যে ৫,০০০ এলেই ম্যানুয়াল হিসাব।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7040880" y="4617720"/>
            <a:ext cx="45720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FEAE0"/>
            </a:solidFill>
            <a:prstDash val="solid"/>
          </a:ln>
          <a:effectLst>
            <a:outerShdw sx="100000" sy="100000" kx="0" ky="0" algn="bl" rotWithShape="0" blurRad="177800" dist="38100" dir="5400000">
              <a:srgbClr val="0A1A14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040880" y="4617720"/>
            <a:ext cx="82296" cy="1325880"/>
          </a:xfrm>
          <a:prstGeom prst="rect">
            <a:avLst/>
          </a:prstGeom>
          <a:solidFill>
            <a:srgbClr val="B0413E"/>
          </a:solidFill>
          <a:ln/>
        </p:spPr>
      </p:sp>
      <p:sp>
        <p:nvSpPr>
          <p:cNvPr id="22" name="Shape 18"/>
          <p:cNvSpPr/>
          <p:nvPr/>
        </p:nvSpPr>
        <p:spPr>
          <a:xfrm>
            <a:off x="7269480" y="4910328"/>
            <a:ext cx="713232" cy="713232"/>
          </a:xfrm>
          <a:prstGeom prst="ellipse">
            <a:avLst/>
          </a:prstGeom>
          <a:solidFill>
            <a:srgbClr val="F5DAD8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928" y="5065776"/>
            <a:ext cx="402336" cy="40233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183880" y="48188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মালিক ও ভাড়াটের খরচ মিশে যায়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8183880" y="527608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মেইনটেনেন্স, বিল, মেরামত — ভাগাভাগির সিস্টেম নেই।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1088136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০২ / ০৯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92608" cy="292608"/>
          </a:xfrm>
          <a:prstGeom prst="rect">
            <a:avLst/>
          </a:prstGeom>
          <a:solidFill>
            <a:srgbClr val="0D4A38"/>
          </a:solidFill>
          <a:ln/>
        </p:spPr>
      </p:sp>
      <p:sp>
        <p:nvSpPr>
          <p:cNvPr id="3" name="Shape 1"/>
          <p:cNvSpPr/>
          <p:nvPr/>
        </p:nvSpPr>
        <p:spPr>
          <a:xfrm>
            <a:off x="580644" y="397764"/>
            <a:ext cx="137160" cy="137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86968" y="2971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RentFlow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০২  ·  সমাধান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8595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প্রতিটা বিল্ডিং, প্রতিটা ভাড়াটে, প্রতিটা টাকার জন্য — একটাই স্ক্রিন।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315468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RentFlow সেইভাবেই গঠিত — যেভাবে জমিদাররা চিন্তা করেন: বিল্ডিং → অ্যাপার্টমেন্ট → ভাড়াটে → চুক্তি → মাসিক ডিউ → পেমেন্ট। মাঝখানের এক্সেল শিট-টা সরিয়ে দেয়।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235440" y="1234440"/>
            <a:ext cx="2606040" cy="2606040"/>
          </a:xfrm>
          <a:prstGeom prst="roundRect">
            <a:avLst>
              <a:gd name="adj" fmla="val 4211"/>
            </a:avLst>
          </a:prstGeom>
          <a:solidFill>
            <a:srgbClr val="0D4A3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146304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464040" y="21031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বাংলাদেশের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জমিদারদের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জন্য তৈরি।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464040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ED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সম্পূর্ণ বাংলায়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4434840"/>
            <a:ext cx="2651760" cy="4572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13" name="Shape 10"/>
          <p:cNvSpPr/>
          <p:nvPr/>
        </p:nvSpPr>
        <p:spPr>
          <a:xfrm>
            <a:off x="502920" y="4663440"/>
            <a:ext cx="640080" cy="640080"/>
          </a:xfrm>
          <a:prstGeom prst="ellipse">
            <a:avLst/>
          </a:prstGeom>
          <a:solidFill>
            <a:srgbClr val="F7F5F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4809744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02920" y="53949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মাল্টি-টেন্যান্ট ডিজাইন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02920" y="585216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প্রতিটা মালিক শুধু নিজের সম্পত্তিই দেখেন — JWT থেকে প্রতিটা কোয়েরিতে মালিকানা যাচাই হয়।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3383280" y="4434840"/>
            <a:ext cx="2651760" cy="4572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18" name="Shape 14"/>
          <p:cNvSpPr/>
          <p:nvPr/>
        </p:nvSpPr>
        <p:spPr>
          <a:xfrm>
            <a:off x="3383280" y="4663440"/>
            <a:ext cx="640080" cy="640080"/>
          </a:xfrm>
          <a:prstGeom prst="ellipse">
            <a:avLst/>
          </a:prstGeom>
          <a:solidFill>
            <a:srgbClr val="F7F5F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584" y="4809744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383280" y="53949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ম্যানুয়াল পেমেন্ট, স্বয়ংক্রিয় হিসাব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3383280" y="585216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নগদ এলেই রেকর্ড করুন। বাল্ক পেমেন্ট পুরাতন বকেয়া থেকে অটো-বিতরণ করে।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263640" y="4434840"/>
            <a:ext cx="2651760" cy="4572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23" name="Shape 18"/>
          <p:cNvSpPr/>
          <p:nvPr/>
        </p:nvSpPr>
        <p:spPr>
          <a:xfrm>
            <a:off x="6263640" y="4663440"/>
            <a:ext cx="640080" cy="640080"/>
          </a:xfrm>
          <a:prstGeom prst="ellipse">
            <a:avLst/>
          </a:prstGeom>
          <a:solidFill>
            <a:srgbClr val="F7F5F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4809744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263640" y="53949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লেজার যাতে বিশ্বাস করা যায়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263640" y="585216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সফট ডিলিট, NUMERIC(10,2), ঐতিহাসিক ভাড়ার snapshot — হিসাব মিথ্যা বলে না।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1088136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০৩ / ০৯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92608" cy="292608"/>
          </a:xfrm>
          <a:prstGeom prst="rect">
            <a:avLst/>
          </a:prstGeom>
          <a:solidFill>
            <a:srgbClr val="0D4A38"/>
          </a:solidFill>
          <a:ln/>
        </p:spPr>
      </p:sp>
      <p:sp>
        <p:nvSpPr>
          <p:cNvPr id="3" name="Shape 1"/>
          <p:cNvSpPr/>
          <p:nvPr/>
        </p:nvSpPr>
        <p:spPr>
          <a:xfrm>
            <a:off x="580644" y="397764"/>
            <a:ext cx="137160" cy="137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86968" y="2971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RentFlow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০৩  ·  যা পাবেন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ছয়টি স্তম্ভ, একটিই কর্মপ্রবাহ।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2468880"/>
            <a:ext cx="361188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EFEAE0"/>
            </a:solidFill>
            <a:prstDash val="solid"/>
          </a:ln>
          <a:effectLst>
            <a:outerShdw sx="100000" sy="100000" kx="0" ky="0" algn="bl" rotWithShape="0" blurRad="177800" dist="38100" dir="5400000">
              <a:srgbClr val="0A1A14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26517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697480"/>
            <a:ext cx="640080" cy="640080"/>
          </a:xfrm>
          <a:prstGeom prst="ellipse">
            <a:avLst/>
          </a:prstGeom>
          <a:solidFill>
            <a:srgbClr val="F7F5F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852928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33832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মাল্টি-বিল্ডিং পোর্টফোলিও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" y="373075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বিল্ডিং → অ্যাপার্টমেন্ট — প্রতিটা ইউনিট নম্বর ইউনিক।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70832" y="2468880"/>
            <a:ext cx="361188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EFEAE0"/>
            </a:solidFill>
            <a:prstDash val="solid"/>
          </a:ln>
          <a:effectLst>
            <a:outerShdw sx="100000" sy="100000" kx="0" ky="0" algn="bl" rotWithShape="0" blurRad="177800" dist="38100" dir="5400000">
              <a:srgbClr val="0A1A14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205472" y="26517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45152" y="2697480"/>
            <a:ext cx="640080" cy="640080"/>
          </a:xfrm>
          <a:prstGeom prst="ellipse">
            <a:avLst/>
          </a:prstGeom>
          <a:solidFill>
            <a:srgbClr val="F7F5F0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852928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645152" y="33832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ভাড়াটে লাইফসাইকেল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645152" y="373075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যোগ, সম্পাদনা, মুভ-আউট — NID, পরিবার, প্রবেশের তারিখ।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238744" y="2468880"/>
            <a:ext cx="361188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EFEAE0"/>
            </a:solidFill>
            <a:prstDash val="solid"/>
          </a:ln>
          <a:effectLst>
            <a:outerShdw sx="100000" sy="100000" kx="0" ky="0" algn="bl" rotWithShape="0" blurRad="177800" dist="38100" dir="5400000">
              <a:srgbClr val="0A1A14">
                <a:alpha val="1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11073384" y="26517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8513064" y="2697480"/>
            <a:ext cx="640080" cy="640080"/>
          </a:xfrm>
          <a:prstGeom prst="ellipse">
            <a:avLst/>
          </a:prstGeom>
          <a:solidFill>
            <a:srgbClr val="F7F5F0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2852928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513064" y="33832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ভার্সনড ভাড়া চুক্তি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8513064" y="373075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ভাড়ার পরিমাণ চুক্তিতে; নতুন চুক্তি মানে নতুন ভাড়া।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502920" y="4507992"/>
            <a:ext cx="361188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EFEAE0"/>
            </a:solidFill>
            <a:prstDash val="solid"/>
          </a:ln>
          <a:effectLst>
            <a:outerShdw sx="100000" sy="100000" kx="0" ky="0" algn="bl" rotWithShape="0" blurRad="177800" dist="38100" dir="5400000">
              <a:srgbClr val="0A1A14">
                <a:alpha val="10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3337560" y="469087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777240" y="4736592"/>
            <a:ext cx="640080" cy="640080"/>
          </a:xfrm>
          <a:prstGeom prst="ellipse">
            <a:avLst/>
          </a:prstGeom>
          <a:solidFill>
            <a:srgbClr val="F7F5F0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892040"/>
            <a:ext cx="329184" cy="32918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77240" y="54223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একক ও বাল্ক পেমেন্ট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777240" y="576986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আংশিক পেমেন্ট সাপোর্টেড। বাল্ক পেমেন্ট পুরাতন-প্রথম।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4370832" y="4507992"/>
            <a:ext cx="361188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EFEAE0"/>
            </a:solidFill>
            <a:prstDash val="solid"/>
          </a:ln>
          <a:effectLst>
            <a:outerShdw sx="100000" sy="100000" kx="0" ky="0" algn="bl" rotWithShape="0" blurRad="177800" dist="38100" dir="5400000">
              <a:srgbClr val="0A1A14">
                <a:alpha val="10000"/>
              </a:srgbClr>
            </a:outerShdw>
          </a:effectLst>
        </p:spPr>
      </p:sp>
      <p:sp>
        <p:nvSpPr>
          <p:cNvPr id="32" name="Text 26"/>
          <p:cNvSpPr/>
          <p:nvPr/>
        </p:nvSpPr>
        <p:spPr>
          <a:xfrm>
            <a:off x="7205472" y="469087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4645152" y="4736592"/>
            <a:ext cx="640080" cy="640080"/>
          </a:xfrm>
          <a:prstGeom prst="ellipse">
            <a:avLst/>
          </a:prstGeom>
          <a:solidFill>
            <a:srgbClr val="F7F5F0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4892040"/>
            <a:ext cx="329184" cy="32918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4645152" y="54223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খরচ ও ভাড়াটে চার্জ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4645152" y="576986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মালিকের খরচ অথবা ভাড়াটেদের চার্জ — due_expense লিঙ্ক।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8238744" y="4507992"/>
            <a:ext cx="361188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EFEAE0"/>
            </a:solidFill>
            <a:prstDash val="solid"/>
          </a:ln>
          <a:effectLst>
            <a:outerShdw sx="100000" sy="100000" kx="0" ky="0" algn="bl" rotWithShape="0" blurRad="177800" dist="38100" dir="5400000">
              <a:srgbClr val="0A1A14">
                <a:alpha val="10000"/>
              </a:srgbClr>
            </a:outerShdw>
          </a:effectLst>
        </p:spPr>
      </p:sp>
      <p:sp>
        <p:nvSpPr>
          <p:cNvPr id="38" name="Text 31"/>
          <p:cNvSpPr/>
          <p:nvPr/>
        </p:nvSpPr>
        <p:spPr>
          <a:xfrm>
            <a:off x="11073384" y="469087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8513064" y="4736592"/>
            <a:ext cx="640080" cy="640080"/>
          </a:xfrm>
          <a:prstGeom prst="ellipse">
            <a:avLst/>
          </a:prstGeom>
          <a:solidFill>
            <a:srgbClr val="F7F5F0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8512" y="4892040"/>
            <a:ext cx="329184" cy="329184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8513064" y="54223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রিপোর্ট, ড্যাশবোর্ড, প্রিন্ট</a:t>
            </a:r>
            <a:endParaRPr lang="en-US" sz="1400" dirty="0"/>
          </a:p>
        </p:txBody>
      </p:sp>
      <p:sp>
        <p:nvSpPr>
          <p:cNvPr id="42" name="Text 34"/>
          <p:cNvSpPr/>
          <p:nvPr/>
        </p:nvSpPr>
        <p:spPr>
          <a:xfrm>
            <a:off x="8513064" y="576986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বকেয়া, মাসিক সংগ্রহ, বার্ষিক লাভ-ক্ষতি — সবই প্রিন্টযোগ্য।</a:t>
            </a:r>
            <a:endParaRPr lang="en-US" sz="1100" dirty="0"/>
          </a:p>
        </p:txBody>
      </p:sp>
      <p:sp>
        <p:nvSpPr>
          <p:cNvPr id="43" name="Text 35"/>
          <p:cNvSpPr/>
          <p:nvPr/>
        </p:nvSpPr>
        <p:spPr>
          <a:xfrm>
            <a:off x="1088136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০৪ / ০৯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92608" cy="292608"/>
          </a:xfrm>
          <a:prstGeom prst="rect">
            <a:avLst/>
          </a:prstGeom>
          <a:solidFill>
            <a:srgbClr val="0D4A38"/>
          </a:solidFill>
          <a:ln/>
        </p:spPr>
      </p:sp>
      <p:sp>
        <p:nvSpPr>
          <p:cNvPr id="3" name="Shape 1"/>
          <p:cNvSpPr/>
          <p:nvPr/>
        </p:nvSpPr>
        <p:spPr>
          <a:xfrm>
            <a:off x="580644" y="397764"/>
            <a:ext cx="137160" cy="137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86968" y="2971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RentFlow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০৪  ·  ব্যবহার প্রবাহ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সাইন-আপ থেকে প্রথম টাকা পর্যন্ত — সাত ধাপ।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2331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অ্যাপ আসলে যে সেটআপ উইজার্ড অনুসরণ করে।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92124" y="3936492"/>
            <a:ext cx="10177272" cy="36576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9" name="Shape 7"/>
          <p:cNvSpPr/>
          <p:nvPr/>
        </p:nvSpPr>
        <p:spPr>
          <a:xfrm>
            <a:off x="626364" y="3063240"/>
            <a:ext cx="1417320" cy="178308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EFEAE0"/>
            </a:solidFill>
            <a:prstDash val="solid"/>
          </a:ln>
          <a:effectLst>
            <a:outerShdw sx="100000" sy="100000" kx="0" ky="0" algn="bl" rotWithShape="0" blurRad="177800" dist="38100" dir="5400000">
              <a:srgbClr val="0A1A14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6364" y="32004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37844" y="3502152"/>
            <a:ext cx="594360" cy="594360"/>
          </a:xfrm>
          <a:prstGeom prst="ellipse">
            <a:avLst/>
          </a:prstGeom>
          <a:solidFill>
            <a:srgbClr val="F7F5F0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3653028"/>
            <a:ext cx="292608" cy="29260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26364" y="417880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নিবন্ধন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26364" y="450799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অ্যাকাউন্ট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208276" y="3063240"/>
            <a:ext cx="1417320" cy="178308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EFEAE0"/>
            </a:solidFill>
            <a:prstDash val="solid"/>
          </a:ln>
          <a:effectLst>
            <a:outerShdw sx="100000" sy="100000" kx="0" ky="0" algn="bl" rotWithShape="0" blurRad="177800" dist="38100" dir="5400000">
              <a:srgbClr val="0A1A14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2208276" y="32004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619756" y="3502152"/>
            <a:ext cx="594360" cy="594360"/>
          </a:xfrm>
          <a:prstGeom prst="ellipse">
            <a:avLst/>
          </a:prstGeom>
          <a:solidFill>
            <a:srgbClr val="F7F5F0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632" y="3653028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208276" y="417880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বিল্ডিং যোগ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2208276" y="450799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সম্পত্তি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3790188" y="3063240"/>
            <a:ext cx="1417320" cy="178308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EFEAE0"/>
            </a:solidFill>
            <a:prstDash val="solid"/>
          </a:ln>
          <a:effectLst>
            <a:outerShdw sx="100000" sy="100000" kx="0" ky="0" algn="bl" rotWithShape="0" blurRad="177800" dist="38100" dir="5400000">
              <a:srgbClr val="0A1A14">
                <a:alpha val="10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3790188" y="32004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201668" y="3502152"/>
            <a:ext cx="594360" cy="594360"/>
          </a:xfrm>
          <a:prstGeom prst="ellipse">
            <a:avLst/>
          </a:prstGeom>
          <a:solidFill>
            <a:srgbClr val="F7F5F0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3653028"/>
            <a:ext cx="292608" cy="29260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790188" y="417880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অ্যাপার্টমেন্ট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3790188" y="450799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ইউনিট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5372100" y="3063240"/>
            <a:ext cx="1417320" cy="178308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EFEAE0"/>
            </a:solidFill>
            <a:prstDash val="solid"/>
          </a:ln>
          <a:effectLst>
            <a:outerShdw sx="100000" sy="100000" kx="0" ky="0" algn="bl" rotWithShape="0" blurRad="177800" dist="38100" dir="5400000">
              <a:srgbClr val="0A1A14">
                <a:alpha val="10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5372100" y="32004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5783580" y="3502152"/>
            <a:ext cx="594360" cy="594360"/>
          </a:xfrm>
          <a:prstGeom prst="ellipse">
            <a:avLst/>
          </a:prstGeom>
          <a:solidFill>
            <a:srgbClr val="F7F5F0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456" y="3653028"/>
            <a:ext cx="292608" cy="29260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372100" y="417880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ভাড়াটে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5372100" y="450799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বাসিন্দা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6954012" y="3063240"/>
            <a:ext cx="1417320" cy="178308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EFEAE0"/>
            </a:solidFill>
            <a:prstDash val="solid"/>
          </a:ln>
          <a:effectLst>
            <a:outerShdw sx="100000" sy="100000" kx="0" ky="0" algn="bl" rotWithShape="0" blurRad="177800" dist="38100" dir="5400000">
              <a:srgbClr val="0A1A14">
                <a:alpha val="10000"/>
              </a:srgbClr>
            </a:outerShdw>
          </a:effectLst>
        </p:spPr>
      </p:sp>
      <p:sp>
        <p:nvSpPr>
          <p:cNvPr id="34" name="Text 28"/>
          <p:cNvSpPr/>
          <p:nvPr/>
        </p:nvSpPr>
        <p:spPr>
          <a:xfrm>
            <a:off x="6954012" y="32004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365492" y="3502152"/>
            <a:ext cx="594360" cy="594360"/>
          </a:xfrm>
          <a:prstGeom prst="ellipse">
            <a:avLst/>
          </a:prstGeom>
          <a:solidFill>
            <a:srgbClr val="F7F5F0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6368" y="3653028"/>
            <a:ext cx="292608" cy="29260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954012" y="417880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চুক্তি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6954012" y="450799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ভাড়ার পরিমাণ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8535924" y="3063240"/>
            <a:ext cx="1417320" cy="178308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EFEAE0"/>
            </a:solidFill>
            <a:prstDash val="solid"/>
          </a:ln>
          <a:effectLst>
            <a:outerShdw sx="100000" sy="100000" kx="0" ky="0" algn="bl" rotWithShape="0" blurRad="177800" dist="38100" dir="5400000">
              <a:srgbClr val="0A1A14">
                <a:alpha val="10000"/>
              </a:srgbClr>
            </a:outerShdw>
          </a:effectLst>
        </p:spPr>
      </p:sp>
      <p:sp>
        <p:nvSpPr>
          <p:cNvPr id="40" name="Text 33"/>
          <p:cNvSpPr/>
          <p:nvPr/>
        </p:nvSpPr>
        <p:spPr>
          <a:xfrm>
            <a:off x="8535924" y="32004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8947404" y="3502152"/>
            <a:ext cx="594360" cy="594360"/>
          </a:xfrm>
          <a:prstGeom prst="ellipse">
            <a:avLst/>
          </a:prstGeom>
          <a:solidFill>
            <a:srgbClr val="F7F5F0"/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8280" y="3653028"/>
            <a:ext cx="292608" cy="292608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8535924" y="417880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মাসিক ডিউ</a:t>
            </a:r>
            <a:endParaRPr lang="en-US" sz="1200" dirty="0"/>
          </a:p>
        </p:txBody>
      </p:sp>
      <p:sp>
        <p:nvSpPr>
          <p:cNvPr id="44" name="Text 36"/>
          <p:cNvSpPr/>
          <p:nvPr/>
        </p:nvSpPr>
        <p:spPr>
          <a:xfrm>
            <a:off x="8535924" y="450799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প্রতি মাসে</a:t>
            </a:r>
            <a:endParaRPr lang="en-US" sz="1000" dirty="0"/>
          </a:p>
        </p:txBody>
      </p:sp>
      <p:sp>
        <p:nvSpPr>
          <p:cNvPr id="45" name="Shape 37"/>
          <p:cNvSpPr/>
          <p:nvPr/>
        </p:nvSpPr>
        <p:spPr>
          <a:xfrm>
            <a:off x="10117836" y="3063240"/>
            <a:ext cx="1417320" cy="1783080"/>
          </a:xfrm>
          <a:prstGeom prst="roundRect">
            <a:avLst>
              <a:gd name="adj" fmla="val 9032"/>
            </a:avLst>
          </a:prstGeom>
          <a:solidFill>
            <a:srgbClr val="0D4A38"/>
          </a:solidFill>
          <a:ln w="12700">
            <a:solidFill>
              <a:srgbClr val="0D4A38"/>
            </a:solidFill>
            <a:prstDash val="solid"/>
          </a:ln>
          <a:effectLst>
            <a:outerShdw sx="100000" sy="100000" kx="0" ky="0" algn="bl" rotWithShape="0" blurRad="177800" dist="38100" dir="5400000">
              <a:srgbClr val="0A1A14">
                <a:alpha val="10000"/>
              </a:srgbClr>
            </a:outerShdw>
          </a:effectLst>
        </p:spPr>
      </p:sp>
      <p:sp>
        <p:nvSpPr>
          <p:cNvPr id="46" name="Text 38"/>
          <p:cNvSpPr/>
          <p:nvPr/>
        </p:nvSpPr>
        <p:spPr>
          <a:xfrm>
            <a:off x="10117836" y="32004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D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7" name="Shape 39"/>
          <p:cNvSpPr/>
          <p:nvPr/>
        </p:nvSpPr>
        <p:spPr>
          <a:xfrm>
            <a:off x="10529316" y="3502152"/>
            <a:ext cx="594360" cy="594360"/>
          </a:xfrm>
          <a:prstGeom prst="ellipse">
            <a:avLst/>
          </a:prstGeom>
          <a:solidFill>
            <a:srgbClr val="165A45"/>
          </a:solidFill>
          <a:ln/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0192" y="3653028"/>
            <a:ext cx="292608" cy="292608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10117836" y="417880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পেমেন্ট</a:t>
            </a:r>
            <a:endParaRPr lang="en-US" sz="1200" dirty="0"/>
          </a:p>
        </p:txBody>
      </p:sp>
      <p:sp>
        <p:nvSpPr>
          <p:cNvPr id="50" name="Text 41"/>
          <p:cNvSpPr/>
          <p:nvPr/>
        </p:nvSpPr>
        <p:spPr>
          <a:xfrm>
            <a:off x="10117836" y="450799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ED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টাকা গ্রহণ</a:t>
            </a:r>
            <a:endParaRPr lang="en-US" sz="1000" dirty="0"/>
          </a:p>
        </p:txBody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43684" y="3872484"/>
            <a:ext cx="164592" cy="164592"/>
          </a:xfrm>
          <a:prstGeom prst="rect">
            <a:avLst/>
          </a:prstGeom>
        </p:spPr>
      </p:pic>
      <p:pic>
        <p:nvPicPr>
          <p:cNvPr id="5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25596" y="3872484"/>
            <a:ext cx="164592" cy="164592"/>
          </a:xfrm>
          <a:prstGeom prst="rect">
            <a:avLst/>
          </a:prstGeom>
        </p:spPr>
      </p:pic>
      <p:pic>
        <p:nvPicPr>
          <p:cNvPr id="5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07508" y="3872484"/>
            <a:ext cx="164592" cy="164592"/>
          </a:xfrm>
          <a:prstGeom prst="rect">
            <a:avLst/>
          </a:prstGeom>
        </p:spPr>
      </p:pic>
      <p:pic>
        <p:nvPicPr>
          <p:cNvPr id="5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89420" y="3872484"/>
            <a:ext cx="164592" cy="164592"/>
          </a:xfrm>
          <a:prstGeom prst="rect">
            <a:avLst/>
          </a:prstGeom>
        </p:spPr>
      </p:pic>
      <p:pic>
        <p:nvPicPr>
          <p:cNvPr id="5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71332" y="3872484"/>
            <a:ext cx="164592" cy="164592"/>
          </a:xfrm>
          <a:prstGeom prst="rect">
            <a:avLst/>
          </a:prstGeom>
        </p:spPr>
      </p:pic>
      <p:pic>
        <p:nvPicPr>
          <p:cNvPr id="5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53244" y="3872484"/>
            <a:ext cx="164592" cy="164592"/>
          </a:xfrm>
          <a:prstGeom prst="rect">
            <a:avLst/>
          </a:prstGeom>
        </p:spPr>
      </p:pic>
      <p:sp>
        <p:nvSpPr>
          <p:cNvPr id="57" name="Shape 42"/>
          <p:cNvSpPr/>
          <p:nvPr/>
        </p:nvSpPr>
        <p:spPr>
          <a:xfrm>
            <a:off x="502920" y="5440680"/>
            <a:ext cx="11155680" cy="960120"/>
          </a:xfrm>
          <a:prstGeom prst="roundRect">
            <a:avLst>
              <a:gd name="adj" fmla="val 9524"/>
            </a:avLst>
          </a:prstGeom>
          <a:solidFill>
            <a:srgbClr val="F7F5F0"/>
          </a:solidFill>
          <a:ln w="12700">
            <a:solidFill>
              <a:srgbClr val="EFEAE0"/>
            </a:solidFill>
            <a:prstDash val="solid"/>
          </a:ln>
        </p:spPr>
      </p:sp>
      <p:pic>
        <p:nvPicPr>
          <p:cNvPr id="5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7240" y="5715000"/>
            <a:ext cx="411480" cy="411480"/>
          </a:xfrm>
          <a:prstGeom prst="rect">
            <a:avLst/>
          </a:prstGeom>
        </p:spPr>
      </p:pic>
      <p:sp>
        <p:nvSpPr>
          <p:cNvPr id="59" name="Text 43"/>
          <p:cNvSpPr/>
          <p:nvPr/>
        </p:nvSpPr>
        <p:spPr>
          <a:xfrm>
            <a:off x="1325880" y="562356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ফলাফল  </a:t>
            </a:r>
            <a:pPr indent="0" marL="0">
              <a:buNone/>
            </a:pPr>
            <a:r>
              <a:rPr lang="en-US" sz="1300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প্রতিটা মাসিক ডিউ চুক্তি → লেজার → রসিদ পর্যন্ত অটো-ট্র্যাক হয়, এবং তারিখ পার হলেই ড্যাশবোর্ড বকেয়া ভাড়াটেদের তুলে ধরে।</a:t>
            </a:r>
            <a:endParaRPr lang="en-US" sz="1300" dirty="0"/>
          </a:p>
        </p:txBody>
      </p:sp>
      <p:sp>
        <p:nvSpPr>
          <p:cNvPr id="60" name="Text 44"/>
          <p:cNvSpPr/>
          <p:nvPr/>
        </p:nvSpPr>
        <p:spPr>
          <a:xfrm>
            <a:off x="1088136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০৫ / ০৯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92608" cy="292608"/>
          </a:xfrm>
          <a:prstGeom prst="rect">
            <a:avLst/>
          </a:prstGeom>
          <a:solidFill>
            <a:srgbClr val="0D4A38"/>
          </a:solidFill>
          <a:ln/>
        </p:spPr>
      </p:sp>
      <p:sp>
        <p:nvSpPr>
          <p:cNvPr id="3" name="Shape 1"/>
          <p:cNvSpPr/>
          <p:nvPr/>
        </p:nvSpPr>
        <p:spPr>
          <a:xfrm>
            <a:off x="580644" y="397764"/>
            <a:ext cx="137160" cy="137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86968" y="2971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RentFlow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০৫  ·  ফিচার বিস্তারিত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বাল্ক পেমেন্ট — পুরাতন-প্রথম বিতরণ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242316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যখন ভাড়াটে কয়েক মাসের বকেয়ার জন্য একসাথে টাকা দেন, RentFlow সেটা MonthlyDue রো-গুলোর মধ্যে পুরাতন খোলা ব্যালেন্স থেকে শুরু করে বিতরণ করে — এবং নিশ্চিত করার আগে পুরো প্রিভিউ দেখায়।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4160520"/>
            <a:ext cx="502920" cy="502920"/>
          </a:xfrm>
          <a:prstGeom prst="ellipse">
            <a:avLst/>
          </a:prstGeom>
          <a:solidFill>
            <a:srgbClr val="F7F5F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4279392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409651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লাইভ প্রিভিউ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88720" y="440740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BulkDistributionPreview দেখায় কোন ডিউতে কত যাচ্ছে — সাবমিটের আগে।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02920" y="5001768"/>
            <a:ext cx="502920" cy="502920"/>
          </a:xfrm>
          <a:prstGeom prst="ellipse">
            <a:avLst/>
          </a:prstGeom>
          <a:solidFill>
            <a:srgbClr val="F7F5F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512064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88720" y="49377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ওভারপে সুরক্ষা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188720" y="524865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মোট বকেয়ার চেয়ে বেশি দিলে সাবমিট বাটন লক — ইনলাইন বাংলা এরর।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02920" y="5843016"/>
            <a:ext cx="502920" cy="502920"/>
          </a:xfrm>
          <a:prstGeom prst="ellipse">
            <a:avLst/>
          </a:prstGeom>
          <a:solidFill>
            <a:srgbClr val="F7F5F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596188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88720" y="577900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বাল্ক ইতিহাস, এক্সপ্যান্ডেবল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88720" y="608990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প্রতিটা সারি খুললে প্রতি-ডিউ ভাঙনি ও স্ট্যাটাস পিল।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92240" y="2423160"/>
            <a:ext cx="5212080" cy="3429000"/>
          </a:xfrm>
          <a:prstGeom prst="roundRect">
            <a:avLst>
              <a:gd name="adj" fmla="val 3733"/>
            </a:avLst>
          </a:prstGeom>
          <a:solidFill>
            <a:srgbClr val="F7F5F0"/>
          </a:solidFill>
          <a:ln w="12700">
            <a:solidFill>
              <a:srgbClr val="EFEAE0"/>
            </a:solidFill>
            <a:prstDash val="dash"/>
          </a:ln>
        </p:spPr>
      </p:sp>
      <p:sp>
        <p:nvSpPr>
          <p:cNvPr id="21" name="Text 16"/>
          <p:cNvSpPr/>
          <p:nvPr/>
        </p:nvSpPr>
        <p:spPr>
          <a:xfrm>
            <a:off x="6675120" y="365760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স্ক্রিনশট: বাল্ক পেমেন্ট ট্যাব — ভাড়াটে নির্বাচক, মোট পরিমাণ ইনপুট, বিতরণ প্রিভিউ টেবিল ]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492240" y="2423160"/>
            <a:ext cx="5212080" cy="274320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23" name="Shape 18"/>
          <p:cNvSpPr/>
          <p:nvPr/>
        </p:nvSpPr>
        <p:spPr>
          <a:xfrm>
            <a:off x="6601968" y="2496312"/>
            <a:ext cx="128016" cy="128016"/>
          </a:xfrm>
          <a:prstGeom prst="ellipse">
            <a:avLst/>
          </a:prstGeom>
          <a:solidFill>
            <a:srgbClr val="B0413E"/>
          </a:solidFill>
          <a:ln/>
        </p:spPr>
      </p:sp>
      <p:sp>
        <p:nvSpPr>
          <p:cNvPr id="24" name="Shape 19"/>
          <p:cNvSpPr/>
          <p:nvPr/>
        </p:nvSpPr>
        <p:spPr>
          <a:xfrm>
            <a:off x="6766560" y="2496312"/>
            <a:ext cx="128016" cy="128016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25" name="Shape 20"/>
          <p:cNvSpPr/>
          <p:nvPr/>
        </p:nvSpPr>
        <p:spPr>
          <a:xfrm>
            <a:off x="6931152" y="2496312"/>
            <a:ext cx="128016" cy="128016"/>
          </a:xfrm>
          <a:prstGeom prst="ellipse">
            <a:avLst/>
          </a:prstGeom>
          <a:solidFill>
            <a:srgbClr val="0D4A38"/>
          </a:solidFill>
          <a:ln/>
        </p:spPr>
      </p:sp>
      <p:sp>
        <p:nvSpPr>
          <p:cNvPr id="26" name="Text 21"/>
          <p:cNvSpPr/>
          <p:nvPr/>
        </p:nvSpPr>
        <p:spPr>
          <a:xfrm>
            <a:off x="6492240" y="59436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রুট  ›  /payments  →  বাল্ক পেমেন্ট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1088136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০৬ / ০৯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92608" cy="292608"/>
          </a:xfrm>
          <a:prstGeom prst="rect">
            <a:avLst/>
          </a:prstGeom>
          <a:solidFill>
            <a:srgbClr val="0D4A38"/>
          </a:solidFill>
          <a:ln/>
        </p:spPr>
      </p:sp>
      <p:sp>
        <p:nvSpPr>
          <p:cNvPr id="3" name="Shape 1"/>
          <p:cNvSpPr/>
          <p:nvPr/>
        </p:nvSpPr>
        <p:spPr>
          <a:xfrm>
            <a:off x="580644" y="397764"/>
            <a:ext cx="137160" cy="137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86968" y="2971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RentFlow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০৫  ·  ফিচার বিস্তারিত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ড্যাশবোর্ড — বকেয়ার তালিকা থেকেই এক ক্লিকে আদায়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2514600"/>
            <a:ext cx="7680960" cy="365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FEAE0"/>
            </a:solidFill>
            <a:prstDash val="dash"/>
          </a:ln>
          <a:effectLst>
            <a:outerShdw sx="100000" sy="100000" kx="0" ky="0" algn="bl" rotWithShape="0" blurRad="177800" dist="38100" dir="5400000">
              <a:srgbClr val="0A1A14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514600"/>
            <a:ext cx="7680960" cy="274320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9" name="Shape 7"/>
          <p:cNvSpPr/>
          <p:nvPr/>
        </p:nvSpPr>
        <p:spPr>
          <a:xfrm>
            <a:off x="612648" y="2587752"/>
            <a:ext cx="128016" cy="128016"/>
          </a:xfrm>
          <a:prstGeom prst="ellipse">
            <a:avLst/>
          </a:prstGeom>
          <a:solidFill>
            <a:srgbClr val="B0413E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587752"/>
            <a:ext cx="128016" cy="128016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11" name="Shape 9"/>
          <p:cNvSpPr/>
          <p:nvPr/>
        </p:nvSpPr>
        <p:spPr>
          <a:xfrm>
            <a:off x="941832" y="2587752"/>
            <a:ext cx="128016" cy="128016"/>
          </a:xfrm>
          <a:prstGeom prst="ellipse">
            <a:avLst/>
          </a:prstGeom>
          <a:solidFill>
            <a:srgbClr val="0D4A3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88620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স্ক্রিনশট: ড্যাশবোর্ড — মাস/বছর নির্বাচক, ৪টি স্ট্যাট কার্ড, পেন্ডিং-ডিউ ব্যানার, সংগ্রহ বার চার্ট, পরিশোধ বাটন সহ বকেয়া ভাড়াটে টেবিল 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58200" y="2514600"/>
            <a:ext cx="32004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FEAE0"/>
            </a:solidFill>
            <a:prstDash val="solid"/>
          </a:ln>
          <a:effectLst>
            <a:outerShdw sx="100000" sy="100000" kx="0" ky="0" algn="bl" rotWithShape="0" blurRad="177800" dist="38100" dir="5400000">
              <a:srgbClr val="0A1A14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58200" y="2514600"/>
            <a:ext cx="73152" cy="822960"/>
          </a:xfrm>
          <a:prstGeom prst="rect">
            <a:avLst/>
          </a:prstGeom>
          <a:solidFill>
            <a:srgbClr val="0D4A38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0" y="2606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এই মাসে সংগৃহীত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0" y="29718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D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মাসিক আদায়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458200" y="3456432"/>
            <a:ext cx="32004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FEAE0"/>
            </a:solidFill>
            <a:prstDash val="solid"/>
          </a:ln>
          <a:effectLst>
            <a:outerShdw sx="100000" sy="100000" kx="0" ky="0" algn="bl" rotWithShape="0" blurRad="177800" dist="38100" dir="5400000">
              <a:srgbClr val="0A1A14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58200" y="3456432"/>
            <a:ext cx="73152" cy="822960"/>
          </a:xfrm>
          <a:prstGeom prst="rect">
            <a:avLst/>
          </a:prstGeom>
          <a:solidFill>
            <a:srgbClr val="B0413E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0" y="35478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মোট বাকি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0" y="39136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সকল বকেয়া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458200" y="4398264"/>
            <a:ext cx="32004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FEAE0"/>
            </a:solidFill>
            <a:prstDash val="solid"/>
          </a:ln>
          <a:effectLst>
            <a:outerShdw sx="100000" sy="100000" kx="0" ky="0" algn="bl" rotWithShape="0" blurRad="177800" dist="38100" dir="5400000">
              <a:srgbClr val="0A1A14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458200" y="4398264"/>
            <a:ext cx="73152" cy="822960"/>
          </a:xfrm>
          <a:prstGeom prst="rect">
            <a:avLst/>
          </a:prstGeom>
          <a:solidFill>
            <a:srgbClr val="5B6B64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0" y="44897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খালি অ্যাপার্টমেন্ট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0" y="485546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ফাঁকা ইউনিট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458200" y="5340096"/>
            <a:ext cx="32004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FEAE0"/>
            </a:solidFill>
            <a:prstDash val="solid"/>
          </a:ln>
          <a:effectLst>
            <a:outerShdw sx="100000" sy="100000" kx="0" ky="0" algn="bl" rotWithShape="0" blurRad="177800" dist="38100" dir="5400000">
              <a:srgbClr val="0A1A14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458200" y="5340096"/>
            <a:ext cx="73152" cy="82296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0" y="54315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ভাড়াটে সংখ্যা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0" y="579729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সক্রিয় বাসিন্দা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62636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রুট  ›  /dashboard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88136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০৭ / ০৯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92608" cy="292608"/>
          </a:xfrm>
          <a:prstGeom prst="rect">
            <a:avLst/>
          </a:prstGeom>
          <a:solidFill>
            <a:srgbClr val="0D4A38"/>
          </a:solidFill>
          <a:ln/>
        </p:spPr>
      </p:sp>
      <p:sp>
        <p:nvSpPr>
          <p:cNvPr id="3" name="Shape 1"/>
          <p:cNvSpPr/>
          <p:nvPr/>
        </p:nvSpPr>
        <p:spPr>
          <a:xfrm>
            <a:off x="580644" y="397764"/>
            <a:ext cx="137160" cy="137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86968" y="2971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RentFlow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০৬  ·  যা শক্তি দেয়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প্রমাণিত টেক, সূক্ষ্ম এক্সিকিউশন।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2331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প্রতিটা পছন্দ — পরীক্ষিত ডিফল্ট। কোনো এক্সোটিক লাইব্রেরি নেই, কোনো পরীক্ষামূলক ফ্রেমওয়ার্ক নেই — শুধু সেই স্ট্যাক যা প্রকৃত ব্যবহারকারীদের জন্য ভাড়া আদায়ের সফটওয়্যার তৈরি করে।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3154680"/>
            <a:ext cx="73152" cy="41148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315468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D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ব্যাকএন্ড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" y="3794760"/>
            <a:ext cx="5349240" cy="475488"/>
          </a:xfrm>
          <a:prstGeom prst="roundRect">
            <a:avLst>
              <a:gd name="adj" fmla="val 15385"/>
            </a:avLst>
          </a:prstGeom>
          <a:solidFill>
            <a:srgbClr val="F7F5F0"/>
          </a:solidFill>
          <a:ln w="9525">
            <a:solidFill>
              <a:srgbClr val="EFEA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" y="3867912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3950208"/>
            <a:ext cx="164592" cy="16459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51560" y="3840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246120" y="38404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কোর রানটাইম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2920" y="4361688"/>
            <a:ext cx="5349240" cy="475488"/>
          </a:xfrm>
          <a:prstGeom prst="roundRect">
            <a:avLst>
              <a:gd name="adj" fmla="val 15385"/>
            </a:avLst>
          </a:prstGeom>
          <a:solidFill>
            <a:srgbClr val="F7F5F0"/>
          </a:solidFill>
          <a:ln w="9525">
            <a:solidFill>
              <a:srgbClr val="EFEAE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2648" y="443484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4517136"/>
            <a:ext cx="164592" cy="16459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51560" y="44074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0.136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246120" y="440740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অ্যাসিঙ্ক HTTP + অটো-OpenAPI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02920" y="4928616"/>
            <a:ext cx="5349240" cy="475488"/>
          </a:xfrm>
          <a:prstGeom prst="roundRect">
            <a:avLst>
              <a:gd name="adj" fmla="val 15385"/>
            </a:avLst>
          </a:prstGeom>
          <a:solidFill>
            <a:srgbClr val="F7F5F0"/>
          </a:solidFill>
          <a:ln w="9525">
            <a:solidFill>
              <a:srgbClr val="EFEAE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12648" y="5001768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084064"/>
            <a:ext cx="164592" cy="16459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51560" y="497433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2.0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3246120" y="497433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অ্যাসিঙ্ক ORM, asyncpg ড্রাইভার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502920" y="5495544"/>
            <a:ext cx="5349240" cy="475488"/>
          </a:xfrm>
          <a:prstGeom prst="roundRect">
            <a:avLst>
              <a:gd name="adj" fmla="val 15385"/>
            </a:avLst>
          </a:prstGeom>
          <a:solidFill>
            <a:srgbClr val="F7F5F0"/>
          </a:solidFill>
          <a:ln w="9525">
            <a:solidFill>
              <a:srgbClr val="EFEAE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12648" y="5568696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5650992"/>
            <a:ext cx="164592" cy="16459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51560" y="554126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3246120" y="554126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PK, NUMERIC(10,2) টাকা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502920" y="6062472"/>
            <a:ext cx="5349240" cy="475488"/>
          </a:xfrm>
          <a:prstGeom prst="roundRect">
            <a:avLst>
              <a:gd name="adj" fmla="val 15385"/>
            </a:avLst>
          </a:prstGeom>
          <a:solidFill>
            <a:srgbClr val="F7F5F0"/>
          </a:solidFill>
          <a:ln w="9525">
            <a:solidFill>
              <a:srgbClr val="EFEAE0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12648" y="6135624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6217920"/>
            <a:ext cx="164592" cy="16459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051560" y="61081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+ JWT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3246120" y="610819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মাইগ্রেশন ও অথ টোকেন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6309360" y="3154680"/>
            <a:ext cx="73152" cy="41148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36" name="Text 29"/>
          <p:cNvSpPr/>
          <p:nvPr/>
        </p:nvSpPr>
        <p:spPr>
          <a:xfrm>
            <a:off x="6510528" y="315468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D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ফ্রন্টএন্ড</a:t>
            </a:r>
            <a:endParaRPr lang="en-US" sz="1800" dirty="0"/>
          </a:p>
        </p:txBody>
      </p:sp>
      <p:sp>
        <p:nvSpPr>
          <p:cNvPr id="37" name="Shape 30"/>
          <p:cNvSpPr/>
          <p:nvPr/>
        </p:nvSpPr>
        <p:spPr>
          <a:xfrm>
            <a:off x="6309360" y="3794760"/>
            <a:ext cx="5349240" cy="475488"/>
          </a:xfrm>
          <a:prstGeom prst="roundRect">
            <a:avLst>
              <a:gd name="adj" fmla="val 15385"/>
            </a:avLst>
          </a:prstGeom>
          <a:solidFill>
            <a:srgbClr val="F7F5F0"/>
          </a:solidFill>
          <a:ln w="9525">
            <a:solidFill>
              <a:srgbClr val="EFEAE0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6419088" y="3867912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1384" y="3950208"/>
            <a:ext cx="164592" cy="164592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858000" y="3840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300" dirty="0"/>
          </a:p>
        </p:txBody>
      </p:sp>
      <p:sp>
        <p:nvSpPr>
          <p:cNvPr id="41" name="Text 33"/>
          <p:cNvSpPr/>
          <p:nvPr/>
        </p:nvSpPr>
        <p:spPr>
          <a:xfrm>
            <a:off x="9052560" y="38404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অ্যাপ শেল + ১১ পেজ</a:t>
            </a:r>
            <a:endParaRPr lang="en-US" sz="1100" dirty="0"/>
          </a:p>
        </p:txBody>
      </p:sp>
      <p:sp>
        <p:nvSpPr>
          <p:cNvPr id="42" name="Shape 34"/>
          <p:cNvSpPr/>
          <p:nvPr/>
        </p:nvSpPr>
        <p:spPr>
          <a:xfrm>
            <a:off x="6309360" y="4361688"/>
            <a:ext cx="5349240" cy="475488"/>
          </a:xfrm>
          <a:prstGeom prst="roundRect">
            <a:avLst>
              <a:gd name="adj" fmla="val 15385"/>
            </a:avLst>
          </a:prstGeom>
          <a:solidFill>
            <a:srgbClr val="F7F5F0"/>
          </a:solidFill>
          <a:ln w="9525">
            <a:solidFill>
              <a:srgbClr val="EFEAE0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6419088" y="443484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1384" y="4517136"/>
            <a:ext cx="164592" cy="164592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858000" y="44074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6</a:t>
            </a:r>
            <a:endParaRPr lang="en-US" sz="1300" dirty="0"/>
          </a:p>
        </p:txBody>
      </p:sp>
      <p:sp>
        <p:nvSpPr>
          <p:cNvPr id="46" name="Text 37"/>
          <p:cNvSpPr/>
          <p:nvPr/>
        </p:nvSpPr>
        <p:spPr>
          <a:xfrm>
            <a:off x="9052560" y="440740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সম্পূর্ণ টাইপ সেফ</a:t>
            </a:r>
            <a:endParaRPr lang="en-US" sz="1100" dirty="0"/>
          </a:p>
        </p:txBody>
      </p:sp>
      <p:sp>
        <p:nvSpPr>
          <p:cNvPr id="47" name="Shape 38"/>
          <p:cNvSpPr/>
          <p:nvPr/>
        </p:nvSpPr>
        <p:spPr>
          <a:xfrm>
            <a:off x="6309360" y="4928616"/>
            <a:ext cx="5349240" cy="475488"/>
          </a:xfrm>
          <a:prstGeom prst="roundRect">
            <a:avLst>
              <a:gd name="adj" fmla="val 15385"/>
            </a:avLst>
          </a:prstGeom>
          <a:solidFill>
            <a:srgbClr val="F7F5F0"/>
          </a:solidFill>
          <a:ln w="9525">
            <a:solidFill>
              <a:srgbClr val="EFEAE0"/>
            </a:solidFill>
            <a:prstDash val="solid"/>
          </a:ln>
        </p:spPr>
      </p:sp>
      <p:sp>
        <p:nvSpPr>
          <p:cNvPr id="48" name="Shape 39"/>
          <p:cNvSpPr/>
          <p:nvPr/>
        </p:nvSpPr>
        <p:spPr>
          <a:xfrm>
            <a:off x="6419088" y="5001768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1384" y="5084064"/>
            <a:ext cx="164592" cy="164592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6858000" y="497433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8</a:t>
            </a:r>
            <a:endParaRPr lang="en-US" sz="1300" dirty="0"/>
          </a:p>
        </p:txBody>
      </p:sp>
      <p:sp>
        <p:nvSpPr>
          <p:cNvPr id="51" name="Text 41"/>
          <p:cNvSpPr/>
          <p:nvPr/>
        </p:nvSpPr>
        <p:spPr>
          <a:xfrm>
            <a:off x="9052560" y="497433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বিল্ড ও ডেভ সার্ভার</a:t>
            </a:r>
            <a:endParaRPr lang="en-US" sz="1100" dirty="0"/>
          </a:p>
        </p:txBody>
      </p:sp>
      <p:sp>
        <p:nvSpPr>
          <p:cNvPr id="52" name="Shape 42"/>
          <p:cNvSpPr/>
          <p:nvPr/>
        </p:nvSpPr>
        <p:spPr>
          <a:xfrm>
            <a:off x="6309360" y="5495544"/>
            <a:ext cx="5349240" cy="475488"/>
          </a:xfrm>
          <a:prstGeom prst="roundRect">
            <a:avLst>
              <a:gd name="adj" fmla="val 15385"/>
            </a:avLst>
          </a:prstGeom>
          <a:solidFill>
            <a:srgbClr val="F7F5F0"/>
          </a:solidFill>
          <a:ln w="9525">
            <a:solidFill>
              <a:srgbClr val="EFEAE0"/>
            </a:solidFill>
            <a:prstDash val="solid"/>
          </a:ln>
        </p:spPr>
      </p:sp>
      <p:sp>
        <p:nvSpPr>
          <p:cNvPr id="53" name="Shape 43"/>
          <p:cNvSpPr/>
          <p:nvPr/>
        </p:nvSpPr>
        <p:spPr>
          <a:xfrm>
            <a:off x="6419088" y="5568696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1384" y="5650992"/>
            <a:ext cx="164592" cy="164592"/>
          </a:xfrm>
          <a:prstGeom prst="rect">
            <a:avLst/>
          </a:prstGeom>
        </p:spPr>
      </p:pic>
      <p:sp>
        <p:nvSpPr>
          <p:cNvPr id="55" name="Text 44"/>
          <p:cNvSpPr/>
          <p:nvPr/>
        </p:nvSpPr>
        <p:spPr>
          <a:xfrm>
            <a:off x="6858000" y="554126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shadcn/ui + Tailwind</a:t>
            </a:r>
            <a:endParaRPr lang="en-US" sz="1300" dirty="0"/>
          </a:p>
        </p:txBody>
      </p:sp>
      <p:sp>
        <p:nvSpPr>
          <p:cNvPr id="56" name="Text 45"/>
          <p:cNvSpPr/>
          <p:nvPr/>
        </p:nvSpPr>
        <p:spPr>
          <a:xfrm>
            <a:off x="9052560" y="554126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HTML নেই, সব UI প্রিমিটিভ</a:t>
            </a:r>
            <a:endParaRPr lang="en-US" sz="1100" dirty="0"/>
          </a:p>
        </p:txBody>
      </p:sp>
      <p:sp>
        <p:nvSpPr>
          <p:cNvPr id="57" name="Shape 46"/>
          <p:cNvSpPr/>
          <p:nvPr/>
        </p:nvSpPr>
        <p:spPr>
          <a:xfrm>
            <a:off x="6309360" y="6062472"/>
            <a:ext cx="5349240" cy="475488"/>
          </a:xfrm>
          <a:prstGeom prst="roundRect">
            <a:avLst>
              <a:gd name="adj" fmla="val 15385"/>
            </a:avLst>
          </a:prstGeom>
          <a:solidFill>
            <a:srgbClr val="F7F5F0"/>
          </a:solidFill>
          <a:ln w="9525">
            <a:solidFill>
              <a:srgbClr val="EFEAE0"/>
            </a:solidFill>
            <a:prstDash val="solid"/>
          </a:ln>
        </p:spPr>
      </p:sp>
      <p:sp>
        <p:nvSpPr>
          <p:cNvPr id="58" name="Shape 47"/>
          <p:cNvSpPr/>
          <p:nvPr/>
        </p:nvSpPr>
        <p:spPr>
          <a:xfrm>
            <a:off x="6419088" y="6135624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1384" y="6217920"/>
            <a:ext cx="164592" cy="164592"/>
          </a:xfrm>
          <a:prstGeom prst="rect">
            <a:avLst/>
          </a:prstGeom>
        </p:spPr>
      </p:pic>
      <p:sp>
        <p:nvSpPr>
          <p:cNvPr id="60" name="Text 48"/>
          <p:cNvSpPr/>
          <p:nvPr/>
        </p:nvSpPr>
        <p:spPr>
          <a:xfrm>
            <a:off x="6858000" y="61081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 + Zod</a:t>
            </a:r>
            <a:endParaRPr lang="en-US" sz="1300" dirty="0"/>
          </a:p>
        </p:txBody>
      </p:sp>
      <p:sp>
        <p:nvSpPr>
          <p:cNvPr id="61" name="Text 49"/>
          <p:cNvSpPr/>
          <p:nvPr/>
        </p:nvSpPr>
        <p:spPr>
          <a:xfrm>
            <a:off x="9052560" y="610819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বাংলায় ফর্ম লেয়ার</a:t>
            </a:r>
            <a:endParaRPr lang="en-US" sz="1100" dirty="0"/>
          </a:p>
        </p:txBody>
      </p:sp>
      <p:sp>
        <p:nvSpPr>
          <p:cNvPr id="62" name="Text 50"/>
          <p:cNvSpPr/>
          <p:nvPr/>
        </p:nvSpPr>
        <p:spPr>
          <a:xfrm>
            <a:off x="1088136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০৮ / ০৯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3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828800"/>
            <a:ext cx="6217920" cy="6217920"/>
          </a:xfrm>
          <a:prstGeom prst="ellipse">
            <a:avLst/>
          </a:prstGeom>
          <a:solidFill>
            <a:srgbClr val="0D4A38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3749040"/>
            <a:ext cx="5852160" cy="5852160"/>
          </a:xfrm>
          <a:prstGeom prst="ellipse">
            <a:avLst/>
          </a:prstGeom>
          <a:solidFill>
            <a:srgbClr val="0D4A3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5029200"/>
            <a:ext cx="2011680" cy="2011680"/>
          </a:xfrm>
          <a:prstGeom prst="ellipse">
            <a:avLst/>
          </a:prstGeom>
          <a:solidFill>
            <a:srgbClr val="C8A24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320040"/>
            <a:ext cx="292608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80644" y="397764"/>
            <a:ext cx="137160" cy="137160"/>
          </a:xfrm>
          <a:prstGeom prst="rect">
            <a:avLst/>
          </a:prstGeom>
          <a:solidFill>
            <a:srgbClr val="0D4A38"/>
          </a:solidFill>
          <a:ln/>
        </p:spPr>
      </p:sp>
      <p:sp>
        <p:nvSpPr>
          <p:cNvPr id="7" name="Text 5"/>
          <p:cNvSpPr/>
          <p:nvPr/>
        </p:nvSpPr>
        <p:spPr>
          <a:xfrm>
            <a:off x="886968" y="2971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RentFlow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ED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০৭  ·  শুরু করুন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10972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ভাড়া তাড়া করা বন্ধ করুন।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এবার পোর্টফোলিও চালান।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502920" y="42976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ED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RentFlow একটি মাল্টি-টেন্যান্ট ভাড়া-ব্যবস্থাপনা OS — যাঁরা হাতে-হাতে পোর্টফোলিও চালান তাঁদের জন্য। দ্বিভাষিক, ম্যানুয়াল-পেমেন্ট-ফার্স্ট, মৌলিক বিষয়ে অভিমতপূর্ণ।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5440680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0D4A38"/>
          </a:solidFill>
          <a:ln w="12700">
            <a:solidFill>
              <a:srgbClr val="165A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5623560"/>
            <a:ext cx="502920" cy="502920"/>
          </a:xfrm>
          <a:prstGeom prst="ellipse">
            <a:avLst/>
          </a:prstGeom>
          <a:solidFill>
            <a:srgbClr val="165A45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5751576"/>
            <a:ext cx="246888" cy="24688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25880" y="55595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D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ওয়েবসাইট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325880" y="5824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rentflow.app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343400" y="5440680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0D4A38"/>
          </a:solidFill>
          <a:ln w="12700">
            <a:solidFill>
              <a:srgbClr val="165A4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26280" y="5623560"/>
            <a:ext cx="502920" cy="502920"/>
          </a:xfrm>
          <a:prstGeom prst="ellipse">
            <a:avLst/>
          </a:prstGeom>
          <a:solidFill>
            <a:srgbClr val="165A45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5751576"/>
            <a:ext cx="246888" cy="24688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166360" y="55595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D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ইমেইল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166360" y="5824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hello@rentflow.app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8183880" y="5440680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0D4A38"/>
          </a:solidFill>
          <a:ln w="12700">
            <a:solidFill>
              <a:srgbClr val="165A45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366760" y="5623560"/>
            <a:ext cx="502920" cy="502920"/>
          </a:xfrm>
          <a:prstGeom prst="ellipse">
            <a:avLst/>
          </a:prstGeom>
          <a:solidFill>
            <a:srgbClr val="165A45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776" y="5751576"/>
            <a:ext cx="246888" cy="2468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006840" y="55595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D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9006840" y="5824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github.com/rentflow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ED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আপনার সম্পত্তি পরিচালনা করুন সহজে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1088136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ED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০৯ / ০৯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RentFlow — পিচ ডেক</dc:title>
  <dc:subject>PptxGenJS Presentation</dc:subject>
  <dc:creator>RentFlow</dc:creator>
  <cp:lastModifiedBy>RentFlow</cp:lastModifiedBy>
  <cp:revision>1</cp:revision>
  <dcterms:created xsi:type="dcterms:W3CDTF">2026-05-30T16:28:29Z</dcterms:created>
  <dcterms:modified xsi:type="dcterms:W3CDTF">2026-05-30T16:28:29Z</dcterms:modified>
</cp:coreProperties>
</file>